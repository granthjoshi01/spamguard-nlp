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4630400" cy="8229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8" name="Shape 1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0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0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0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0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5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60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70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80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90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00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10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731519" y="110489"/>
            <a:ext cx="13167362" cy="1809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731519" y="1920239"/>
            <a:ext cx="13167362" cy="6309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7071359" y="7408544"/>
            <a:ext cx="3413761" cy="43815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Relationship Id="rId3" Type="http://schemas.openxmlformats.org/officeDocument/2006/relationships/hyperlink" Target="chatgpt://generic-entity?number=0" TargetMode="External"/><Relationship Id="rId4" Type="http://schemas.openxmlformats.org/officeDocument/2006/relationships/hyperlink" Target="chatgpt://generic-entity?number=1" TargetMode="External"/><Relationship Id="rId5" Type="http://schemas.openxmlformats.org/officeDocument/2006/relationships/hyperlink" Target="chatgpt://generic-entity?number=2" TargetMode="Externa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 txBox="1"/>
          <p:nvPr/>
        </p:nvSpPr>
        <p:spPr>
          <a:xfrm>
            <a:off x="793790" y="1951552"/>
            <a:ext cx="3025528" cy="687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SpamGuard</a:t>
            </a:r>
          </a:p>
        </p:txBody>
      </p:sp>
      <p:sp>
        <p:nvSpPr>
          <p:cNvPr id="121" name="Text 1"/>
          <p:cNvSpPr txBox="1"/>
          <p:nvPr/>
        </p:nvSpPr>
        <p:spPr>
          <a:xfrm>
            <a:off x="793790" y="3000493"/>
            <a:ext cx="13042822" cy="1938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7700"/>
              </a:lnSpc>
              <a:defRPr sz="610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Multilingual SMS Spam Detection Using NLP</a:t>
            </a:r>
          </a:p>
        </p:txBody>
      </p:sp>
      <p:sp>
        <p:nvSpPr>
          <p:cNvPr id="122" name="Text 2"/>
          <p:cNvSpPr txBox="1"/>
          <p:nvPr/>
        </p:nvSpPr>
        <p:spPr>
          <a:xfrm>
            <a:off x="793790" y="5297091"/>
            <a:ext cx="5938987" cy="33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2800"/>
              </a:lnSpc>
              <a:defRPr b="1" sz="17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pPr>
            <a:r>
              <a:t>Hemlata Parmar</a:t>
            </a:r>
            <a:r>
              <a:rPr b="0"/>
              <a:t> · </a:t>
            </a:r>
            <a:r>
              <a:t>Raghuraj Singh Chouhan</a:t>
            </a:r>
            <a:r>
              <a:rPr b="0"/>
              <a:t> · </a:t>
            </a:r>
            <a:r>
              <a:t>Granth Joshi</a:t>
            </a:r>
          </a:p>
        </p:txBody>
      </p:sp>
      <p:sp>
        <p:nvSpPr>
          <p:cNvPr id="123" name="Text 3"/>
          <p:cNvSpPr txBox="1"/>
          <p:nvPr/>
        </p:nvSpPr>
        <p:spPr>
          <a:xfrm>
            <a:off x="793790" y="5915143"/>
            <a:ext cx="2424498" cy="33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lvl1pPr>
          </a:lstStyle>
          <a:p>
            <a:pPr/>
            <a:r>
              <a:t>Manipal University Jaipur</a:t>
            </a:r>
          </a:p>
        </p:txBody>
      </p:sp>
      <p:pic>
        <p:nvPicPr>
          <p:cNvPr id="124" name="Screenshot 2026-04-09 at 10.52.22 PM.png" descr="Screenshot 2026-04-09 at 10.52.22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032458" y="7688580"/>
            <a:ext cx="2501901" cy="533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Text 0"/>
          <p:cNvSpPr txBox="1"/>
          <p:nvPr/>
        </p:nvSpPr>
        <p:spPr>
          <a:xfrm>
            <a:off x="569594" y="1383625"/>
            <a:ext cx="4507311" cy="499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000"/>
              </a:lnSpc>
              <a:defRPr sz="320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The SMS Spam Problem</a:t>
            </a:r>
          </a:p>
        </p:txBody>
      </p:sp>
      <p:sp>
        <p:nvSpPr>
          <p:cNvPr id="128" name="Text 1"/>
          <p:cNvSpPr txBox="1"/>
          <p:nvPr/>
        </p:nvSpPr>
        <p:spPr>
          <a:xfrm>
            <a:off x="569595" y="2538889"/>
            <a:ext cx="1898551" cy="249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000"/>
              </a:lnSpc>
              <a:defRPr sz="16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What Is SMS Spam?</a:t>
            </a:r>
          </a:p>
        </p:txBody>
      </p:sp>
      <p:sp>
        <p:nvSpPr>
          <p:cNvPr id="129" name="Text 2"/>
          <p:cNvSpPr txBox="1"/>
          <p:nvPr/>
        </p:nvSpPr>
        <p:spPr>
          <a:xfrm>
            <a:off x="569595" y="2863214"/>
            <a:ext cx="5306889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700"/>
              </a:lnSpc>
              <a:defRPr sz="12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lvl1pPr>
          </a:lstStyle>
          <a:p>
            <a:pPr/>
            <a:r>
              <a:t>Unsolicited messages — ads, scams, phishing — sent in bulk without consent.</a:t>
            </a:r>
          </a:p>
        </p:txBody>
      </p:sp>
      <p:sp>
        <p:nvSpPr>
          <p:cNvPr id="130" name="Text 3"/>
          <p:cNvSpPr txBox="1"/>
          <p:nvPr/>
        </p:nvSpPr>
        <p:spPr>
          <a:xfrm>
            <a:off x="569595" y="3791903"/>
            <a:ext cx="915988" cy="249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000"/>
              </a:lnSpc>
              <a:defRPr sz="16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Key Risks</a:t>
            </a:r>
          </a:p>
        </p:txBody>
      </p:sp>
      <p:sp>
        <p:nvSpPr>
          <p:cNvPr id="131" name="Text 4"/>
          <p:cNvSpPr txBox="1"/>
          <p:nvPr/>
        </p:nvSpPr>
        <p:spPr>
          <a:xfrm>
            <a:off x="569595" y="4116228"/>
            <a:ext cx="5324004" cy="207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700"/>
              </a:lnSpc>
              <a:defRPr sz="12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lvl1pPr>
          </a:lstStyle>
          <a:p>
            <a:pPr/>
            <a:r>
              <a:t>Phishing attacks, financial fraud, and privacy violations through malicious links.</a:t>
            </a:r>
          </a:p>
        </p:txBody>
      </p:sp>
      <p:sp>
        <p:nvSpPr>
          <p:cNvPr id="132" name="Text 5"/>
          <p:cNvSpPr txBox="1"/>
          <p:nvPr/>
        </p:nvSpPr>
        <p:spPr>
          <a:xfrm>
            <a:off x="569595" y="5044916"/>
            <a:ext cx="1565276" cy="249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000"/>
              </a:lnSpc>
              <a:defRPr sz="16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India's Challenge</a:t>
            </a:r>
          </a:p>
        </p:txBody>
      </p:sp>
      <p:sp>
        <p:nvSpPr>
          <p:cNvPr id="133" name="Text 6"/>
          <p:cNvSpPr txBox="1"/>
          <p:nvPr/>
        </p:nvSpPr>
        <p:spPr>
          <a:xfrm>
            <a:off x="569595" y="5369242"/>
            <a:ext cx="5670923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1700"/>
              </a:lnSpc>
              <a:defRPr sz="12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pPr>
            <a:r>
              <a:t>Messages in Hindi, English, and </a:t>
            </a:r>
            <a:r>
              <a:rPr b="1"/>
              <a:t>Hinglish</a:t>
            </a:r>
            <a:r>
              <a:t> (code-mixed) defeat English-only models.</a:t>
            </a:r>
          </a:p>
        </p:txBody>
      </p:sp>
      <p:sp>
        <p:nvSpPr>
          <p:cNvPr id="134" name="Text 7"/>
          <p:cNvSpPr txBox="1"/>
          <p:nvPr/>
        </p:nvSpPr>
        <p:spPr>
          <a:xfrm>
            <a:off x="569595" y="6297929"/>
            <a:ext cx="1691581" cy="249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000"/>
              </a:lnSpc>
              <a:defRPr sz="16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Real-World Impact</a:t>
            </a:r>
          </a:p>
        </p:txBody>
      </p:sp>
      <p:sp>
        <p:nvSpPr>
          <p:cNvPr id="135" name="Text 8"/>
          <p:cNvSpPr txBox="1"/>
          <p:nvPr/>
        </p:nvSpPr>
        <p:spPr>
          <a:xfrm>
            <a:off x="569595" y="6622256"/>
            <a:ext cx="5307633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700"/>
              </a:lnSpc>
              <a:defRPr sz="12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lvl1pPr>
          </a:lstStyle>
          <a:p>
            <a:pPr/>
            <a:r>
              <a:t>India's SMS traffic is massive and growing — spam detection is a critical need.</a:t>
            </a:r>
          </a:p>
        </p:txBody>
      </p:sp>
      <p:pic>
        <p:nvPicPr>
          <p:cNvPr id="136" name="Screenshot 2026-04-09 at 10.52.22 PM.png" descr="Screenshot 2026-04-09 at 10.52.22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064250" y="3850258"/>
            <a:ext cx="2501900" cy="533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7" name="sms.png" descr="sms.png"/>
          <p:cNvPicPr>
            <a:picLocks noChangeAspect="1"/>
          </p:cNvPicPr>
          <p:nvPr/>
        </p:nvPicPr>
        <p:blipFill>
          <a:blip r:embed="rId4">
            <a:extLst/>
          </a:blip>
          <a:srcRect l="0" t="0" r="0" b="0"/>
          <a:stretch>
            <a:fillRect/>
          </a:stretch>
        </p:blipFill>
        <p:spPr>
          <a:xfrm>
            <a:off x="5314304" y="665456"/>
            <a:ext cx="1262767" cy="12627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0"/>
          <p:cNvSpPr/>
          <p:nvPr/>
        </p:nvSpPr>
        <p:spPr>
          <a:xfrm>
            <a:off x="2361127" y="1321118"/>
            <a:ext cx="1447206" cy="235983"/>
          </a:xfrm>
          <a:prstGeom prst="roundRect">
            <a:avLst>
              <a:gd name="adj" fmla="val 20446"/>
            </a:avLst>
          </a:prstGeom>
          <a:solidFill>
            <a:srgbClr val="D2DD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0" name="Text 1"/>
          <p:cNvSpPr txBox="1"/>
          <p:nvPr/>
        </p:nvSpPr>
        <p:spPr>
          <a:xfrm>
            <a:off x="2447211" y="1364099"/>
            <a:ext cx="1278707" cy="138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100"/>
              </a:lnSpc>
              <a:defRPr sz="9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lvl1pPr>
          </a:lstStyle>
          <a:p>
            <a:pPr/>
            <a:r>
              <a:t>PROBLEM STATEMENT</a:t>
            </a:r>
          </a:p>
        </p:txBody>
      </p:sp>
      <p:sp>
        <p:nvSpPr>
          <p:cNvPr id="141" name="Text 2"/>
          <p:cNvSpPr txBox="1"/>
          <p:nvPr/>
        </p:nvSpPr>
        <p:spPr>
          <a:xfrm>
            <a:off x="2361127" y="1593413"/>
            <a:ext cx="5249988" cy="437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500"/>
              </a:lnSpc>
              <a:defRPr sz="280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Why Existing Solutions Fall Short</a:t>
            </a:r>
          </a:p>
        </p:txBody>
      </p:sp>
      <p:pic>
        <p:nvPicPr>
          <p:cNvPr id="14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61127" y="2780346"/>
            <a:ext cx="6317576" cy="3526037"/>
          </a:xfrm>
          <a:prstGeom prst="rect">
            <a:avLst/>
          </a:prstGeom>
          <a:ln w="12700">
            <a:miter lim="400000"/>
          </a:ln>
        </p:spPr>
      </p:pic>
      <p:sp>
        <p:nvSpPr>
          <p:cNvPr id="143" name="Shape 3"/>
          <p:cNvSpPr/>
          <p:nvPr/>
        </p:nvSpPr>
        <p:spPr>
          <a:xfrm>
            <a:off x="9036605" y="2280523"/>
            <a:ext cx="3240049" cy="1195507"/>
          </a:xfrm>
          <a:prstGeom prst="roundRect">
            <a:avLst>
              <a:gd name="adj" fmla="val 6119"/>
            </a:avLst>
          </a:prstGeom>
          <a:solidFill>
            <a:srgbClr val="F9F9FF"/>
          </a:solidFill>
          <a:ln w="15240">
            <a:solidFill>
              <a:srgbClr val="B8C3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Shape 4"/>
          <p:cNvSpPr/>
          <p:nvPr/>
        </p:nvSpPr>
        <p:spPr>
          <a:xfrm>
            <a:off x="9021365" y="2280523"/>
            <a:ext cx="60961" cy="1195507"/>
          </a:xfrm>
          <a:prstGeom prst="roundRect">
            <a:avLst>
              <a:gd name="adj" fmla="val 50000"/>
            </a:avLst>
          </a:prstGeom>
          <a:solidFill>
            <a:srgbClr val="1B54D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Text 5"/>
          <p:cNvSpPr txBox="1"/>
          <p:nvPr/>
        </p:nvSpPr>
        <p:spPr>
          <a:xfrm>
            <a:off x="9241155" y="2439352"/>
            <a:ext cx="1415914" cy="213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700"/>
              </a:lnSpc>
              <a:defRPr sz="14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English-Only Bias</a:t>
            </a:r>
          </a:p>
        </p:txBody>
      </p:sp>
      <p:sp>
        <p:nvSpPr>
          <p:cNvPr id="146" name="Text 6"/>
          <p:cNvSpPr txBox="1"/>
          <p:nvPr/>
        </p:nvSpPr>
        <p:spPr>
          <a:xfrm>
            <a:off x="9241155" y="2754629"/>
            <a:ext cx="2876670" cy="529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lvl1pPr>
          </a:lstStyle>
          <a:p>
            <a:pPr/>
            <a:r>
              <a:t>Most models are trained exclusively on English corpora, failing on regional Indian languages.</a:t>
            </a:r>
          </a:p>
        </p:txBody>
      </p:sp>
      <p:sp>
        <p:nvSpPr>
          <p:cNvPr id="147" name="Shape 7"/>
          <p:cNvSpPr/>
          <p:nvPr/>
        </p:nvSpPr>
        <p:spPr>
          <a:xfrm>
            <a:off x="9036605" y="3566874"/>
            <a:ext cx="3240049" cy="1007984"/>
          </a:xfrm>
          <a:prstGeom prst="roundRect">
            <a:avLst>
              <a:gd name="adj" fmla="val 7257"/>
            </a:avLst>
          </a:prstGeom>
          <a:solidFill>
            <a:srgbClr val="F9F9FF"/>
          </a:solidFill>
          <a:ln w="15240">
            <a:solidFill>
              <a:srgbClr val="B8C3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8" name="Shape 8"/>
          <p:cNvSpPr/>
          <p:nvPr/>
        </p:nvSpPr>
        <p:spPr>
          <a:xfrm>
            <a:off x="9021365" y="3566874"/>
            <a:ext cx="60961" cy="1007984"/>
          </a:xfrm>
          <a:prstGeom prst="roundRect">
            <a:avLst>
              <a:gd name="adj" fmla="val 50000"/>
            </a:avLst>
          </a:prstGeom>
          <a:solidFill>
            <a:srgbClr val="1B54D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9" name="Text 9"/>
          <p:cNvSpPr txBox="1"/>
          <p:nvPr/>
        </p:nvSpPr>
        <p:spPr>
          <a:xfrm>
            <a:off x="9241155" y="3725703"/>
            <a:ext cx="1791569" cy="21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700"/>
              </a:lnSpc>
              <a:defRPr sz="14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Code-Mixed Blindness</a:t>
            </a:r>
          </a:p>
        </p:txBody>
      </p:sp>
      <p:sp>
        <p:nvSpPr>
          <p:cNvPr id="150" name="Text 10"/>
          <p:cNvSpPr txBox="1"/>
          <p:nvPr/>
        </p:nvSpPr>
        <p:spPr>
          <a:xfrm>
            <a:off x="9241155" y="4040980"/>
            <a:ext cx="2876670" cy="352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lvl1pPr>
          </a:lstStyle>
          <a:p>
            <a:pPr/>
            <a:r>
              <a:t>Hinglish and mixed-script messages are misclassified or ignored entirely.</a:t>
            </a:r>
          </a:p>
        </p:txBody>
      </p:sp>
      <p:sp>
        <p:nvSpPr>
          <p:cNvPr id="151" name="Shape 11"/>
          <p:cNvSpPr/>
          <p:nvPr/>
        </p:nvSpPr>
        <p:spPr>
          <a:xfrm>
            <a:off x="9036605" y="4665702"/>
            <a:ext cx="3240049" cy="1195508"/>
          </a:xfrm>
          <a:prstGeom prst="roundRect">
            <a:avLst>
              <a:gd name="adj" fmla="val 6119"/>
            </a:avLst>
          </a:prstGeom>
          <a:solidFill>
            <a:srgbClr val="F9F9FF"/>
          </a:solidFill>
          <a:ln w="15240">
            <a:solidFill>
              <a:srgbClr val="B8C3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2" name="Shape 12"/>
          <p:cNvSpPr/>
          <p:nvPr/>
        </p:nvSpPr>
        <p:spPr>
          <a:xfrm>
            <a:off x="9021365" y="4665702"/>
            <a:ext cx="60961" cy="1195508"/>
          </a:xfrm>
          <a:prstGeom prst="roundRect">
            <a:avLst>
              <a:gd name="adj" fmla="val 50000"/>
            </a:avLst>
          </a:prstGeom>
          <a:solidFill>
            <a:srgbClr val="1B54D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Text 13"/>
          <p:cNvSpPr txBox="1"/>
          <p:nvPr/>
        </p:nvSpPr>
        <p:spPr>
          <a:xfrm>
            <a:off x="9241155" y="4824531"/>
            <a:ext cx="1893578" cy="21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700"/>
              </a:lnSpc>
              <a:defRPr sz="14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No Real-Time Inference</a:t>
            </a:r>
          </a:p>
        </p:txBody>
      </p:sp>
      <p:sp>
        <p:nvSpPr>
          <p:cNvPr id="154" name="Text 14"/>
          <p:cNvSpPr txBox="1"/>
          <p:nvPr/>
        </p:nvSpPr>
        <p:spPr>
          <a:xfrm>
            <a:off x="9241155" y="5139809"/>
            <a:ext cx="2876670" cy="352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lvl1pPr>
          </a:lstStyle>
          <a:p>
            <a:pPr/>
            <a:r>
              <a:t>Existing tools lack lightweight, deployable architectures for live, on-device prediction.</a:t>
            </a:r>
          </a:p>
        </p:txBody>
      </p:sp>
      <p:sp>
        <p:nvSpPr>
          <p:cNvPr id="155" name="Shape 15"/>
          <p:cNvSpPr/>
          <p:nvPr/>
        </p:nvSpPr>
        <p:spPr>
          <a:xfrm>
            <a:off x="9036605" y="5963363"/>
            <a:ext cx="3240049" cy="842844"/>
          </a:xfrm>
          <a:prstGeom prst="roundRect">
            <a:avLst>
              <a:gd name="adj" fmla="val 7156"/>
            </a:avLst>
          </a:prstGeom>
          <a:solidFill>
            <a:srgbClr val="BBCD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56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180194" y="6146601"/>
            <a:ext cx="179428" cy="143590"/>
          </a:xfrm>
          <a:prstGeom prst="rect">
            <a:avLst/>
          </a:prstGeom>
          <a:ln w="12700">
            <a:miter lim="400000"/>
          </a:ln>
        </p:spPr>
      </p:pic>
      <p:sp>
        <p:nvSpPr>
          <p:cNvPr id="157" name="Text 16"/>
          <p:cNvSpPr txBox="1"/>
          <p:nvPr/>
        </p:nvSpPr>
        <p:spPr>
          <a:xfrm>
            <a:off x="9503212" y="6090046"/>
            <a:ext cx="2629854" cy="529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400"/>
              </a:lnSpc>
              <a:defRPr b="1" sz="1100">
                <a:latin typeface="Nobile"/>
                <a:ea typeface="Nobile"/>
                <a:cs typeface="Nobile"/>
                <a:sym typeface="Nobile"/>
              </a:defRPr>
            </a:pPr>
            <a:r>
              <a:t>Core Gap:</a:t>
            </a:r>
            <a:r>
              <a:rPr b="0"/>
              <a:t> No unified solution for </a:t>
            </a:r>
            <a:r>
              <a:t>multilingual, real-time, scalable</a:t>
            </a:r>
            <a:r>
              <a:rPr b="0"/>
              <a:t> SMS spam detection.</a:t>
            </a:r>
          </a:p>
        </p:txBody>
      </p:sp>
      <p:pic>
        <p:nvPicPr>
          <p:cNvPr id="158" name="Screenshot 2026-04-09 at 10.52.22 PM.png" descr="Screenshot 2026-04-09 at 10.52.22 P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156795" y="7688580"/>
            <a:ext cx="2501901" cy="533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0"/>
          <p:cNvSpPr/>
          <p:nvPr/>
        </p:nvSpPr>
        <p:spPr>
          <a:xfrm>
            <a:off x="5957649" y="1202888"/>
            <a:ext cx="1326119" cy="218004"/>
          </a:xfrm>
          <a:prstGeom prst="roundRect">
            <a:avLst>
              <a:gd name="adj" fmla="val 20757"/>
            </a:avLst>
          </a:prstGeom>
          <a:solidFill>
            <a:srgbClr val="D2DD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1" name="Text 1"/>
          <p:cNvSpPr txBox="1"/>
          <p:nvPr/>
        </p:nvSpPr>
        <p:spPr>
          <a:xfrm>
            <a:off x="6038374" y="1243250"/>
            <a:ext cx="11361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000"/>
              </a:lnSpc>
              <a:defRPr sz="8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lvl1pPr>
          </a:lstStyle>
          <a:p>
            <a:pPr/>
            <a:r>
              <a:t>PROPOSED SOLUTION</a:t>
            </a:r>
          </a:p>
        </p:txBody>
      </p:sp>
      <p:sp>
        <p:nvSpPr>
          <p:cNvPr id="162" name="Text 2"/>
          <p:cNvSpPr txBox="1"/>
          <p:nvPr/>
        </p:nvSpPr>
        <p:spPr>
          <a:xfrm>
            <a:off x="5957649" y="1452800"/>
            <a:ext cx="3518496" cy="411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300"/>
              </a:lnSpc>
              <a:defRPr sz="260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Introducing SpamGuard</a:t>
            </a:r>
          </a:p>
        </p:txBody>
      </p:sp>
      <p:sp>
        <p:nvSpPr>
          <p:cNvPr id="163" name="Shape 3"/>
          <p:cNvSpPr/>
          <p:nvPr/>
        </p:nvSpPr>
        <p:spPr>
          <a:xfrm>
            <a:off x="5957649" y="1993582"/>
            <a:ext cx="8201502" cy="1198365"/>
          </a:xfrm>
          <a:prstGeom prst="roundRect">
            <a:avLst>
              <a:gd name="adj" fmla="val 4720"/>
            </a:avLst>
          </a:prstGeom>
          <a:solidFill>
            <a:srgbClr val="D2DDF9"/>
          </a:solidFill>
          <a:ln w="7620">
            <a:solidFill>
              <a:srgbClr val="B8C3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Shape 4"/>
          <p:cNvSpPr/>
          <p:nvPr/>
        </p:nvSpPr>
        <p:spPr>
          <a:xfrm>
            <a:off x="6099928" y="2135862"/>
            <a:ext cx="403980" cy="403980"/>
          </a:xfrm>
          <a:prstGeom prst="roundRect">
            <a:avLst>
              <a:gd name="adj" fmla="val 50000"/>
            </a:avLst>
          </a:prstGeom>
          <a:solidFill>
            <a:srgbClr val="1B54D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5" name="Text 5"/>
          <p:cNvSpPr txBox="1"/>
          <p:nvPr/>
        </p:nvSpPr>
        <p:spPr>
          <a:xfrm>
            <a:off x="6099928" y="2619731"/>
            <a:ext cx="1462728" cy="200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600"/>
              </a:lnSpc>
              <a:defRPr sz="13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Multilingual Support</a:t>
            </a:r>
          </a:p>
        </p:txBody>
      </p:sp>
      <p:sp>
        <p:nvSpPr>
          <p:cNvPr id="166" name="Text 6"/>
          <p:cNvSpPr txBox="1"/>
          <p:nvPr/>
        </p:nvSpPr>
        <p:spPr>
          <a:xfrm>
            <a:off x="6099928" y="2877978"/>
            <a:ext cx="4561323" cy="161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300"/>
              </a:lnSpc>
              <a:defRPr sz="10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lvl1pPr>
          </a:lstStyle>
          <a:p>
            <a:pPr/>
            <a:r>
              <a:t>Translates Hindi, Spanish,French, etc  languages to English before classification.</a:t>
            </a:r>
          </a:p>
        </p:txBody>
      </p:sp>
      <p:sp>
        <p:nvSpPr>
          <p:cNvPr id="167" name="Shape 7"/>
          <p:cNvSpPr/>
          <p:nvPr/>
        </p:nvSpPr>
        <p:spPr>
          <a:xfrm>
            <a:off x="5957649" y="3245097"/>
            <a:ext cx="8201502" cy="1198365"/>
          </a:xfrm>
          <a:prstGeom prst="roundRect">
            <a:avLst>
              <a:gd name="adj" fmla="val 4720"/>
            </a:avLst>
          </a:prstGeom>
          <a:solidFill>
            <a:srgbClr val="D2DDF9"/>
          </a:solidFill>
          <a:ln w="7620">
            <a:solidFill>
              <a:srgbClr val="B8C3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8" name="Shape 8"/>
          <p:cNvSpPr/>
          <p:nvPr/>
        </p:nvSpPr>
        <p:spPr>
          <a:xfrm>
            <a:off x="6099928" y="3414117"/>
            <a:ext cx="403980" cy="403980"/>
          </a:xfrm>
          <a:prstGeom prst="roundRect">
            <a:avLst>
              <a:gd name="adj" fmla="val 50000"/>
            </a:avLst>
          </a:prstGeom>
          <a:solidFill>
            <a:srgbClr val="1B54D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9" name="Text 9"/>
          <p:cNvSpPr txBox="1"/>
          <p:nvPr/>
        </p:nvSpPr>
        <p:spPr>
          <a:xfrm>
            <a:off x="6099928" y="3897986"/>
            <a:ext cx="1375744" cy="200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600"/>
              </a:lnSpc>
              <a:defRPr sz="13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NLP + ML Pipeline</a:t>
            </a:r>
          </a:p>
        </p:txBody>
      </p:sp>
      <p:sp>
        <p:nvSpPr>
          <p:cNvPr id="170" name="Text 10"/>
          <p:cNvSpPr txBox="1"/>
          <p:nvPr/>
        </p:nvSpPr>
        <p:spPr>
          <a:xfrm>
            <a:off x="6099928" y="4156233"/>
            <a:ext cx="4967500" cy="161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1300"/>
              </a:lnSpc>
              <a:defRPr sz="10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pPr>
            <a:r>
              <a:t>TF-IDF feature extraction paired with </a:t>
            </a:r>
            <a:r>
              <a:rPr b="1"/>
              <a:t>Multinomial Naive Bayes</a:t>
            </a:r>
            <a:r>
              <a:t> for robust classification.</a:t>
            </a:r>
          </a:p>
        </p:txBody>
      </p:sp>
      <p:sp>
        <p:nvSpPr>
          <p:cNvPr id="171" name="Shape 11"/>
          <p:cNvSpPr/>
          <p:nvPr/>
        </p:nvSpPr>
        <p:spPr>
          <a:xfrm>
            <a:off x="5957649" y="4550092"/>
            <a:ext cx="8201502" cy="1198365"/>
          </a:xfrm>
          <a:prstGeom prst="roundRect">
            <a:avLst>
              <a:gd name="adj" fmla="val 4720"/>
            </a:avLst>
          </a:prstGeom>
          <a:solidFill>
            <a:srgbClr val="D2DDF9"/>
          </a:solidFill>
          <a:ln w="7620">
            <a:solidFill>
              <a:srgbClr val="B8C3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Shape 12"/>
          <p:cNvSpPr/>
          <p:nvPr/>
        </p:nvSpPr>
        <p:spPr>
          <a:xfrm>
            <a:off x="6099928" y="4692372"/>
            <a:ext cx="403980" cy="403980"/>
          </a:xfrm>
          <a:prstGeom prst="roundRect">
            <a:avLst>
              <a:gd name="adj" fmla="val 50000"/>
            </a:avLst>
          </a:prstGeom>
          <a:solidFill>
            <a:srgbClr val="1B54D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3" name="Text 13"/>
          <p:cNvSpPr txBox="1"/>
          <p:nvPr/>
        </p:nvSpPr>
        <p:spPr>
          <a:xfrm>
            <a:off x="6099928" y="5176242"/>
            <a:ext cx="1481108" cy="200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600"/>
              </a:lnSpc>
              <a:defRPr sz="13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Real-Time Web App</a:t>
            </a:r>
          </a:p>
        </p:txBody>
      </p:sp>
      <p:sp>
        <p:nvSpPr>
          <p:cNvPr id="174" name="Text 14"/>
          <p:cNvSpPr txBox="1"/>
          <p:nvPr/>
        </p:nvSpPr>
        <p:spPr>
          <a:xfrm>
            <a:off x="6099928" y="5434488"/>
            <a:ext cx="4707174" cy="161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300"/>
              </a:lnSpc>
              <a:defRPr sz="10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lvl1pPr>
          </a:lstStyle>
          <a:p>
            <a:pPr/>
            <a:r>
              <a:t>Flask-based backend delivers instant predictions through a clean, minimal frontend.</a:t>
            </a:r>
          </a:p>
        </p:txBody>
      </p:sp>
      <p:sp>
        <p:nvSpPr>
          <p:cNvPr id="175" name="Shape 15"/>
          <p:cNvSpPr/>
          <p:nvPr/>
        </p:nvSpPr>
        <p:spPr>
          <a:xfrm>
            <a:off x="5957649" y="5828348"/>
            <a:ext cx="8201502" cy="1198365"/>
          </a:xfrm>
          <a:prstGeom prst="roundRect">
            <a:avLst>
              <a:gd name="adj" fmla="val 4720"/>
            </a:avLst>
          </a:prstGeom>
          <a:solidFill>
            <a:srgbClr val="D2DDF9"/>
          </a:solidFill>
          <a:ln w="7620">
            <a:solidFill>
              <a:srgbClr val="B8C3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6" name="Shape 16"/>
          <p:cNvSpPr/>
          <p:nvPr/>
        </p:nvSpPr>
        <p:spPr>
          <a:xfrm>
            <a:off x="6099928" y="5970627"/>
            <a:ext cx="403980" cy="403980"/>
          </a:xfrm>
          <a:prstGeom prst="roundRect">
            <a:avLst>
              <a:gd name="adj" fmla="val 50000"/>
            </a:avLst>
          </a:prstGeom>
          <a:solidFill>
            <a:srgbClr val="1B54D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7" name="Text 17"/>
          <p:cNvSpPr txBox="1"/>
          <p:nvPr/>
        </p:nvSpPr>
        <p:spPr>
          <a:xfrm>
            <a:off x="6099928" y="6454497"/>
            <a:ext cx="1435077" cy="200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600"/>
              </a:lnSpc>
              <a:defRPr sz="13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Simple Architecture</a:t>
            </a:r>
          </a:p>
        </p:txBody>
      </p:sp>
      <p:sp>
        <p:nvSpPr>
          <p:cNvPr id="178" name="Text 18"/>
          <p:cNvSpPr txBox="1"/>
          <p:nvPr/>
        </p:nvSpPr>
        <p:spPr>
          <a:xfrm>
            <a:off x="6099928" y="6712743"/>
            <a:ext cx="3886263" cy="161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300"/>
              </a:lnSpc>
              <a:defRPr sz="10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lvl1pPr>
          </a:lstStyle>
          <a:p>
            <a:pPr/>
            <a:r>
              <a:t>Lightweight, modular design — easy to deploy, maintain, and extend.</a:t>
            </a:r>
          </a:p>
        </p:txBody>
      </p:sp>
      <p:pic>
        <p:nvPicPr>
          <p:cNvPr id="179" name="Screenshot 2026-04-09 at 10.52.22 PM.png" descr="Screenshot 2026-04-09 at 10.52.22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322579" y="7688580"/>
            <a:ext cx="2501901" cy="533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0" name="module.avif" descr="module.avi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418883" y="5807250"/>
            <a:ext cx="1722606" cy="124056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1" name="flask.png" descr="flask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594234" y="4501503"/>
            <a:ext cx="1371905" cy="1371906"/>
          </a:xfrm>
          <a:prstGeom prst="rect">
            <a:avLst/>
          </a:prstGeom>
          <a:ln w="12700">
            <a:miter lim="400000"/>
          </a:ln>
        </p:spPr>
      </p:pic>
      <p:pic>
        <p:nvPicPr>
          <p:cNvPr id="182" name="nlp.png" descr="nlp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2792495" y="3339741"/>
            <a:ext cx="975383" cy="97538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3" name="multi.png" descr="multi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2792495" y="2105074"/>
            <a:ext cx="975383" cy="97538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" name="spamguard.jpg" descr="spamguard.jp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934592" y="-1"/>
            <a:ext cx="4223362" cy="82296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Screenshot 2026-04-10 at 10.12.28 AM.png" descr="Screenshot 2026-04-10 at 10.12.28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" y="502329"/>
            <a:ext cx="14630401" cy="722925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Screenshot 2026-04-10 at 10.13.59 AM.png" descr="Screenshot 2026-04-10 at 10.13.59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" y="492401"/>
            <a:ext cx="14630401" cy="724911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Screenshot 2026-04-10 at 10.14.14 AM.png" descr="Screenshot 2026-04-10 at 10.14.14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" y="487318"/>
            <a:ext cx="14630401" cy="72592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Screenshot 2026-04-10 at 10.14.38 AM.png" descr="Screenshot 2026-04-10 at 10.14.38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" y="510229"/>
            <a:ext cx="14630401" cy="721346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0"/>
          <p:cNvSpPr/>
          <p:nvPr/>
        </p:nvSpPr>
        <p:spPr>
          <a:xfrm>
            <a:off x="1337429" y="514231"/>
            <a:ext cx="1255277" cy="299324"/>
          </a:xfrm>
          <a:prstGeom prst="roundRect">
            <a:avLst>
              <a:gd name="adj" fmla="val 19450"/>
            </a:avLst>
          </a:prstGeom>
          <a:solidFill>
            <a:srgbClr val="D2DD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5" name="Text 1"/>
          <p:cNvSpPr txBox="1"/>
          <p:nvPr/>
        </p:nvSpPr>
        <p:spPr>
          <a:xfrm>
            <a:off x="1441371" y="566141"/>
            <a:ext cx="1007555" cy="181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lvl1pPr>
          </a:lstStyle>
          <a:p>
            <a:pPr/>
            <a:r>
              <a:t>ARCHITECTURE</a:t>
            </a:r>
          </a:p>
        </p:txBody>
      </p:sp>
      <p:sp>
        <p:nvSpPr>
          <p:cNvPr id="196" name="Text 2"/>
          <p:cNvSpPr txBox="1"/>
          <p:nvPr/>
        </p:nvSpPr>
        <p:spPr>
          <a:xfrm>
            <a:off x="1337429" y="866418"/>
            <a:ext cx="6300577" cy="526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200"/>
              </a:lnSpc>
              <a:defRPr sz="340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SpamGuard System Architecture</a:t>
            </a:r>
          </a:p>
        </p:txBody>
      </p:sp>
      <p:pic>
        <p:nvPicPr>
          <p:cNvPr id="19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37429" y="1606272"/>
            <a:ext cx="11955423" cy="5471398"/>
          </a:xfrm>
          <a:prstGeom prst="rect">
            <a:avLst/>
          </a:prstGeom>
          <a:ln w="12700">
            <a:miter lim="400000"/>
          </a:ln>
        </p:spPr>
      </p:pic>
      <p:sp>
        <p:nvSpPr>
          <p:cNvPr id="198" name="Text 3"/>
          <p:cNvSpPr txBox="1"/>
          <p:nvPr/>
        </p:nvSpPr>
        <p:spPr>
          <a:xfrm>
            <a:off x="10094854" y="2331144"/>
            <a:ext cx="2285926" cy="322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20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Presentation &amp; Data</a:t>
            </a:r>
          </a:p>
        </p:txBody>
      </p:sp>
      <p:sp>
        <p:nvSpPr>
          <p:cNvPr id="199" name="Text 4"/>
          <p:cNvSpPr txBox="1"/>
          <p:nvPr/>
        </p:nvSpPr>
        <p:spPr>
          <a:xfrm>
            <a:off x="10094854" y="2755763"/>
            <a:ext cx="2915036" cy="458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sz="16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lvl1pPr>
          </a:lstStyle>
          <a:p>
            <a:pPr/>
            <a:r>
              <a:t>Web UI for input; datasets, models, language resources</a:t>
            </a:r>
          </a:p>
        </p:txBody>
      </p:sp>
      <p:sp>
        <p:nvSpPr>
          <p:cNvPr id="200" name="Text 5"/>
          <p:cNvSpPr txBox="1"/>
          <p:nvPr/>
        </p:nvSpPr>
        <p:spPr>
          <a:xfrm>
            <a:off x="2338813" y="4129533"/>
            <a:ext cx="1961233" cy="322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lnSpc>
                <a:spcPts val="2600"/>
              </a:lnSpc>
              <a:defRPr sz="20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Application Layer</a:t>
            </a:r>
          </a:p>
        </p:txBody>
      </p:sp>
      <p:sp>
        <p:nvSpPr>
          <p:cNvPr id="201" name="Text 6"/>
          <p:cNvSpPr txBox="1"/>
          <p:nvPr/>
        </p:nvSpPr>
        <p:spPr>
          <a:xfrm>
            <a:off x="1620092" y="4554153"/>
            <a:ext cx="2679953" cy="458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800"/>
              </a:lnSpc>
              <a:defRPr sz="16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lvl1pPr>
          </a:lstStyle>
          <a:p>
            <a:pPr/>
            <a:r>
              <a:t>Flask APIs for routing and request handling</a:t>
            </a:r>
          </a:p>
        </p:txBody>
      </p:sp>
      <p:sp>
        <p:nvSpPr>
          <p:cNvPr id="202" name="Text 7"/>
          <p:cNvSpPr txBox="1"/>
          <p:nvPr/>
        </p:nvSpPr>
        <p:spPr>
          <a:xfrm>
            <a:off x="10094854" y="5058114"/>
            <a:ext cx="2168352" cy="322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20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Core: NLP Pipeline</a:t>
            </a:r>
          </a:p>
        </p:txBody>
      </p:sp>
      <p:sp>
        <p:nvSpPr>
          <p:cNvPr id="203" name="Text 8"/>
          <p:cNvSpPr txBox="1"/>
          <p:nvPr/>
        </p:nvSpPr>
        <p:spPr>
          <a:xfrm>
            <a:off x="10094854" y="5482733"/>
            <a:ext cx="2915036" cy="458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sz="16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lvl1pPr>
          </a:lstStyle>
          <a:p>
            <a:pPr/>
            <a:r>
              <a:t>Translation, preprocessing, TF-IDF, Naive Bayes</a:t>
            </a:r>
          </a:p>
        </p:txBody>
      </p:sp>
      <p:sp>
        <p:nvSpPr>
          <p:cNvPr id="204" name="Text 9"/>
          <p:cNvSpPr txBox="1"/>
          <p:nvPr/>
        </p:nvSpPr>
        <p:spPr>
          <a:xfrm>
            <a:off x="1337429" y="7226497"/>
            <a:ext cx="11955423" cy="4723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900"/>
              </a:lnSpc>
              <a:defRPr sz="13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pPr>
            <a:r>
              <a:t>SpamGuard uses a clean </a:t>
            </a:r>
            <a:r>
              <a:rPr b="1"/>
              <a:t>4-layer architecture</a:t>
            </a:r>
            <a:r>
              <a:t> — separating concerns across presentation, application logic, NLP processing, and data storage for modularity and scalability.</a:t>
            </a:r>
          </a:p>
        </p:txBody>
      </p:sp>
      <p:pic>
        <p:nvPicPr>
          <p:cNvPr id="205" name="Screenshot 2026-04-09 at 10.52.22 PM.png" descr="Screenshot 2026-04-09 at 10.52.22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308764" y="7688580"/>
            <a:ext cx="2501901" cy="533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0"/>
          <p:cNvSpPr/>
          <p:nvPr/>
        </p:nvSpPr>
        <p:spPr>
          <a:xfrm>
            <a:off x="741878" y="582930"/>
            <a:ext cx="1908811" cy="389454"/>
          </a:xfrm>
          <a:prstGeom prst="roundRect">
            <a:avLst>
              <a:gd name="adj" fmla="val 18290"/>
            </a:avLst>
          </a:prstGeom>
          <a:solidFill>
            <a:srgbClr val="D2DD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8" name="Text 1"/>
          <p:cNvSpPr txBox="1"/>
          <p:nvPr/>
        </p:nvSpPr>
        <p:spPr>
          <a:xfrm>
            <a:off x="869036" y="646508"/>
            <a:ext cx="1608964" cy="241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lvl1pPr>
          </a:lstStyle>
          <a:p>
            <a:pPr/>
            <a:r>
              <a:t>WORKING PIPELINE</a:t>
            </a:r>
          </a:p>
        </p:txBody>
      </p:sp>
      <p:sp>
        <p:nvSpPr>
          <p:cNvPr id="209" name="Text 2"/>
          <p:cNvSpPr txBox="1"/>
          <p:nvPr/>
        </p:nvSpPr>
        <p:spPr>
          <a:xfrm>
            <a:off x="741877" y="1051560"/>
            <a:ext cx="7102917" cy="648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200"/>
              </a:lnSpc>
              <a:defRPr sz="410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End-to-End Classification Flow</a:t>
            </a:r>
          </a:p>
        </p:txBody>
      </p:sp>
      <p:pic>
        <p:nvPicPr>
          <p:cNvPr id="21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52381" y="2011084"/>
            <a:ext cx="12725520" cy="4775122"/>
          </a:xfrm>
          <a:prstGeom prst="rect">
            <a:avLst/>
          </a:prstGeom>
          <a:ln w="12700">
            <a:miter lim="400000"/>
          </a:ln>
        </p:spPr>
      </p:pic>
      <p:sp>
        <p:nvSpPr>
          <p:cNvPr id="211" name="Text 3"/>
          <p:cNvSpPr txBox="1"/>
          <p:nvPr/>
        </p:nvSpPr>
        <p:spPr>
          <a:xfrm>
            <a:off x="11367852" y="5627001"/>
            <a:ext cx="1652483" cy="3618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900"/>
              </a:lnSpc>
              <a:defRPr sz="23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Naive Bayes</a:t>
            </a:r>
          </a:p>
        </p:txBody>
      </p:sp>
      <p:sp>
        <p:nvSpPr>
          <p:cNvPr id="212" name="Text 4"/>
          <p:cNvSpPr txBox="1"/>
          <p:nvPr/>
        </p:nvSpPr>
        <p:spPr>
          <a:xfrm>
            <a:off x="9306502" y="5627001"/>
            <a:ext cx="937352" cy="3618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900"/>
              </a:lnSpc>
              <a:defRPr sz="23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TF-IDF</a:t>
            </a:r>
          </a:p>
        </p:txBody>
      </p:sp>
      <p:sp>
        <p:nvSpPr>
          <p:cNvPr id="213" name="Text 5"/>
          <p:cNvSpPr txBox="1"/>
          <p:nvPr/>
        </p:nvSpPr>
        <p:spPr>
          <a:xfrm>
            <a:off x="6409730" y="5442130"/>
            <a:ext cx="1919358" cy="3618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900"/>
              </a:lnSpc>
              <a:defRPr sz="23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Preprocessing</a:t>
            </a:r>
          </a:p>
        </p:txBody>
      </p:sp>
      <p:sp>
        <p:nvSpPr>
          <p:cNvPr id="214" name="Text 6"/>
          <p:cNvSpPr txBox="1"/>
          <p:nvPr/>
        </p:nvSpPr>
        <p:spPr>
          <a:xfrm>
            <a:off x="4240160" y="5627001"/>
            <a:ext cx="1446957" cy="3618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900"/>
              </a:lnSpc>
              <a:defRPr sz="23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Translation</a:t>
            </a:r>
          </a:p>
        </p:txBody>
      </p:sp>
      <p:sp>
        <p:nvSpPr>
          <p:cNvPr id="215" name="Text 7"/>
          <p:cNvSpPr txBox="1"/>
          <p:nvPr/>
        </p:nvSpPr>
        <p:spPr>
          <a:xfrm>
            <a:off x="1825164" y="5627001"/>
            <a:ext cx="1360241" cy="3618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900"/>
              </a:lnSpc>
              <a:defRPr sz="23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User Input</a:t>
            </a:r>
          </a:p>
        </p:txBody>
      </p:sp>
      <p:sp>
        <p:nvSpPr>
          <p:cNvPr id="216" name="Text 8"/>
          <p:cNvSpPr txBox="1"/>
          <p:nvPr/>
        </p:nvSpPr>
        <p:spPr>
          <a:xfrm>
            <a:off x="741878" y="7021790"/>
            <a:ext cx="13146643" cy="300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500"/>
              </a:lnSpc>
              <a:defRPr sz="16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pPr>
            <a:r>
              <a:t>Each message flows through </a:t>
            </a:r>
            <a:r>
              <a:rPr b="1"/>
              <a:t>six stages</a:t>
            </a:r>
            <a:r>
              <a:t> — from raw multilingual input to a labeled prediction with a confidence score, all in under a second.</a:t>
            </a:r>
          </a:p>
        </p:txBody>
      </p:sp>
      <p:pic>
        <p:nvPicPr>
          <p:cNvPr id="217" name="Screenshot 2026-04-09 at 10.52.22 PM.png" descr="Screenshot 2026-04-09 at 10.52.22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667962" y="7688580"/>
            <a:ext cx="2501901" cy="533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0"/>
          <p:cNvSpPr/>
          <p:nvPr/>
        </p:nvSpPr>
        <p:spPr>
          <a:xfrm>
            <a:off x="793790" y="722114"/>
            <a:ext cx="1678901" cy="426245"/>
          </a:xfrm>
          <a:prstGeom prst="roundRect">
            <a:avLst>
              <a:gd name="adj" fmla="val 17880"/>
            </a:avLst>
          </a:prstGeom>
          <a:solidFill>
            <a:srgbClr val="D2DD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0" name="Text 1"/>
          <p:cNvSpPr txBox="1"/>
          <p:nvPr/>
        </p:nvSpPr>
        <p:spPr>
          <a:xfrm>
            <a:off x="929878" y="790099"/>
            <a:ext cx="1415480" cy="264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200"/>
              </a:lnSpc>
              <a:defRPr sz="14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lvl1pPr>
          </a:lstStyle>
          <a:p>
            <a:pPr/>
            <a:r>
              <a:t>METHODOLOGY</a:t>
            </a:r>
          </a:p>
        </p:txBody>
      </p:sp>
      <p:sp>
        <p:nvSpPr>
          <p:cNvPr id="221" name="Text 2"/>
          <p:cNvSpPr txBox="1"/>
          <p:nvPr/>
        </p:nvSpPr>
        <p:spPr>
          <a:xfrm>
            <a:off x="793790" y="1239082"/>
            <a:ext cx="6234535" cy="687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How the Model Was Built</a:t>
            </a:r>
          </a:p>
        </p:txBody>
      </p:sp>
      <p:sp>
        <p:nvSpPr>
          <p:cNvPr id="222" name="Text 3"/>
          <p:cNvSpPr txBox="1"/>
          <p:nvPr/>
        </p:nvSpPr>
        <p:spPr>
          <a:xfrm>
            <a:off x="793790" y="2514837"/>
            <a:ext cx="2730439" cy="338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Data &amp; Preprocessing</a:t>
            </a:r>
          </a:p>
        </p:txBody>
      </p:sp>
      <p:sp>
        <p:nvSpPr>
          <p:cNvPr id="223" name="Text 4"/>
          <p:cNvSpPr txBox="1"/>
          <p:nvPr/>
        </p:nvSpPr>
        <p:spPr>
          <a:xfrm>
            <a:off x="1530906" y="3124318"/>
            <a:ext cx="4476391" cy="33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2800"/>
              </a:lnSpc>
              <a:defRPr b="1" sz="17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pPr>
            <a:r>
              <a:t>Dataset:</a:t>
            </a:r>
            <a:r>
              <a:rPr b="0"/>
              <a:t> Labeled SMS corpus (spam vs. ham)</a:t>
            </a:r>
          </a:p>
        </p:txBody>
      </p:sp>
      <p:sp>
        <p:nvSpPr>
          <p:cNvPr id="224" name="Text 5"/>
          <p:cNvSpPr txBox="1"/>
          <p:nvPr/>
        </p:nvSpPr>
        <p:spPr>
          <a:xfrm>
            <a:off x="1530906" y="4269699"/>
            <a:ext cx="3696283" cy="33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2800"/>
              </a:lnSpc>
              <a:defRPr b="1" sz="17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pPr>
            <a:r>
              <a:t>Lowercasing</a:t>
            </a:r>
            <a:r>
              <a:rPr b="0"/>
              <a:t> — normalize text casing</a:t>
            </a:r>
          </a:p>
        </p:txBody>
      </p:sp>
      <p:sp>
        <p:nvSpPr>
          <p:cNvPr id="225" name="Text 6"/>
          <p:cNvSpPr txBox="1"/>
          <p:nvPr/>
        </p:nvSpPr>
        <p:spPr>
          <a:xfrm>
            <a:off x="1530906" y="5415081"/>
            <a:ext cx="3923780" cy="33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2800"/>
              </a:lnSpc>
              <a:defRPr b="1" sz="17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pPr>
            <a:r>
              <a:t>Stopword Removal</a:t>
            </a:r>
            <a:r>
              <a:rPr b="0"/>
              <a:t> — filter noise words</a:t>
            </a:r>
          </a:p>
        </p:txBody>
      </p:sp>
      <p:sp>
        <p:nvSpPr>
          <p:cNvPr id="226" name="Text 7"/>
          <p:cNvSpPr txBox="1"/>
          <p:nvPr/>
        </p:nvSpPr>
        <p:spPr>
          <a:xfrm>
            <a:off x="1530906" y="6560463"/>
            <a:ext cx="3488079" cy="33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2800"/>
              </a:lnSpc>
              <a:defRPr b="1" sz="17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pPr>
            <a:r>
              <a:t>Tokenization</a:t>
            </a:r>
            <a:r>
              <a:rPr b="0"/>
              <a:t> — split into word units</a:t>
            </a:r>
          </a:p>
        </p:txBody>
      </p:sp>
      <p:sp>
        <p:nvSpPr>
          <p:cNvPr id="227" name="Text 8"/>
          <p:cNvSpPr txBox="1"/>
          <p:nvPr/>
        </p:nvSpPr>
        <p:spPr>
          <a:xfrm>
            <a:off x="7599520" y="2514837"/>
            <a:ext cx="3398107" cy="338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Feature Extraction &amp; Model</a:t>
            </a:r>
          </a:p>
        </p:txBody>
      </p:sp>
      <p:sp>
        <p:nvSpPr>
          <p:cNvPr id="228" name="Shape 9"/>
          <p:cNvSpPr/>
          <p:nvPr/>
        </p:nvSpPr>
        <p:spPr>
          <a:xfrm>
            <a:off x="7599520" y="3124318"/>
            <a:ext cx="3008949" cy="2901673"/>
          </a:xfrm>
          <a:prstGeom prst="roundRect">
            <a:avLst>
              <a:gd name="adj" fmla="val 3283"/>
            </a:avLst>
          </a:prstGeom>
          <a:solidFill>
            <a:srgbClr val="F9F9FF"/>
          </a:solidFill>
          <a:ln w="30480">
            <a:solidFill>
              <a:srgbClr val="B8C3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9" name="Text 10"/>
          <p:cNvSpPr txBox="1"/>
          <p:nvPr/>
        </p:nvSpPr>
        <p:spPr>
          <a:xfrm>
            <a:off x="7856815" y="3381612"/>
            <a:ext cx="2494359" cy="6814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2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TF-IDF Vectorization</a:t>
            </a:r>
          </a:p>
        </p:txBody>
      </p:sp>
      <p:sp>
        <p:nvSpPr>
          <p:cNvPr id="230" name="Text 11"/>
          <p:cNvSpPr txBox="1"/>
          <p:nvPr/>
        </p:nvSpPr>
        <p:spPr>
          <a:xfrm>
            <a:off x="7856815" y="4317086"/>
            <a:ext cx="2494359" cy="1400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lvl1pPr>
          </a:lstStyle>
          <a:p>
            <a:pPr/>
            <a:r>
              <a:t>Converts text to weighted numerical vectors, emphasizing discriminative terms.</a:t>
            </a:r>
          </a:p>
        </p:txBody>
      </p:sp>
      <p:sp>
        <p:nvSpPr>
          <p:cNvPr id="231" name="Shape 12"/>
          <p:cNvSpPr/>
          <p:nvPr/>
        </p:nvSpPr>
        <p:spPr>
          <a:xfrm>
            <a:off x="10835282" y="3124318"/>
            <a:ext cx="3008949" cy="2901673"/>
          </a:xfrm>
          <a:prstGeom prst="roundRect">
            <a:avLst>
              <a:gd name="adj" fmla="val 3283"/>
            </a:avLst>
          </a:prstGeom>
          <a:solidFill>
            <a:srgbClr val="F9F9FF"/>
          </a:solidFill>
          <a:ln w="30480">
            <a:solidFill>
              <a:srgbClr val="B8C3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2" name="Text 13"/>
          <p:cNvSpPr txBox="1"/>
          <p:nvPr/>
        </p:nvSpPr>
        <p:spPr>
          <a:xfrm>
            <a:off x="11092577" y="3381612"/>
            <a:ext cx="2494360" cy="6814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2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Multinomial Naive Bayes</a:t>
            </a:r>
          </a:p>
        </p:txBody>
      </p:sp>
      <p:sp>
        <p:nvSpPr>
          <p:cNvPr id="233" name="Text 14"/>
          <p:cNvSpPr txBox="1"/>
          <p:nvPr/>
        </p:nvSpPr>
        <p:spPr>
          <a:xfrm>
            <a:off x="11092577" y="4317086"/>
            <a:ext cx="2494360" cy="1045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lvl1pPr>
          </a:lstStyle>
          <a:p>
            <a:pPr/>
            <a:r>
              <a:t>Probabilistic classifier — fast, interpretable, and ideal for sparse text data.</a:t>
            </a:r>
          </a:p>
        </p:txBody>
      </p:sp>
      <p:pic>
        <p:nvPicPr>
          <p:cNvPr id="234" name="Screenshot 2026-04-09 at 10.52.22 PM.png" descr="Screenshot 2026-04-09 at 10.52.22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336395" y="7580389"/>
            <a:ext cx="2501901" cy="533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pipeline 12.03.23 PM.png" descr="pipeline 12.03.23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30962" y="2158"/>
            <a:ext cx="3768476" cy="82296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239" name="Shape 0"/>
          <p:cNvSpPr/>
          <p:nvPr/>
        </p:nvSpPr>
        <p:spPr>
          <a:xfrm>
            <a:off x="6280189" y="970477"/>
            <a:ext cx="1074183" cy="426245"/>
          </a:xfrm>
          <a:prstGeom prst="roundRect">
            <a:avLst>
              <a:gd name="adj" fmla="val 17880"/>
            </a:avLst>
          </a:prstGeom>
          <a:solidFill>
            <a:srgbClr val="D2DD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0" name="Text 1"/>
          <p:cNvSpPr txBox="1"/>
          <p:nvPr/>
        </p:nvSpPr>
        <p:spPr>
          <a:xfrm>
            <a:off x="6416278" y="1038462"/>
            <a:ext cx="819659" cy="264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200"/>
              </a:lnSpc>
              <a:defRPr sz="14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lvl1pPr>
          </a:lstStyle>
          <a:p>
            <a:pPr/>
            <a:r>
              <a:t>RESULTS</a:t>
            </a:r>
          </a:p>
        </p:txBody>
      </p:sp>
      <p:sp>
        <p:nvSpPr>
          <p:cNvPr id="241" name="Text 2"/>
          <p:cNvSpPr txBox="1"/>
          <p:nvPr/>
        </p:nvSpPr>
        <p:spPr>
          <a:xfrm>
            <a:off x="6280189" y="1487447"/>
            <a:ext cx="5167413" cy="687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Performance Metrics</a:t>
            </a:r>
          </a:p>
        </p:txBody>
      </p:sp>
      <p:sp>
        <p:nvSpPr>
          <p:cNvPr id="242" name="Text 3"/>
          <p:cNvSpPr txBox="1"/>
          <p:nvPr/>
        </p:nvSpPr>
        <p:spPr>
          <a:xfrm>
            <a:off x="8802923" y="2649735"/>
            <a:ext cx="2510955" cy="7586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5800"/>
              </a:lnSpc>
              <a:defRPr sz="58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97.13%</a:t>
            </a:r>
          </a:p>
        </p:txBody>
      </p:sp>
      <p:sp>
        <p:nvSpPr>
          <p:cNvPr id="243" name="Text 4"/>
          <p:cNvSpPr txBox="1"/>
          <p:nvPr/>
        </p:nvSpPr>
        <p:spPr>
          <a:xfrm>
            <a:off x="9003831" y="3681531"/>
            <a:ext cx="2109019" cy="338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Overall Accuracy</a:t>
            </a:r>
          </a:p>
        </p:txBody>
      </p:sp>
      <p:sp>
        <p:nvSpPr>
          <p:cNvPr id="244" name="Text 5"/>
          <p:cNvSpPr txBox="1"/>
          <p:nvPr/>
        </p:nvSpPr>
        <p:spPr>
          <a:xfrm>
            <a:off x="9043867" y="4171950"/>
            <a:ext cx="2029068" cy="33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800"/>
              </a:lnSpc>
              <a:defRPr sz="17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lvl1pPr>
          </a:lstStyle>
          <a:p>
            <a:pPr/>
            <a:r>
              <a:t>On held-out test data</a:t>
            </a:r>
          </a:p>
        </p:txBody>
      </p:sp>
      <p:sp>
        <p:nvSpPr>
          <p:cNvPr id="245" name="Text 6"/>
          <p:cNvSpPr txBox="1"/>
          <p:nvPr/>
        </p:nvSpPr>
        <p:spPr>
          <a:xfrm>
            <a:off x="6280189" y="4875014"/>
            <a:ext cx="1627846" cy="33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Key Findings</a:t>
            </a:r>
          </a:p>
        </p:txBody>
      </p:sp>
      <p:sp>
        <p:nvSpPr>
          <p:cNvPr id="246" name="Text 7"/>
          <p:cNvSpPr txBox="1"/>
          <p:nvPr/>
        </p:nvSpPr>
        <p:spPr>
          <a:xfrm>
            <a:off x="6280189" y="5569506"/>
            <a:ext cx="7556422" cy="1400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800"/>
              </a:lnSpc>
              <a:buSzPct val="100000"/>
              <a:buChar char="•"/>
              <a:defRPr b="1" sz="17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pPr>
            <a:r>
              <a:t>High precision</a:t>
            </a:r>
            <a:r>
              <a:rPr b="0"/>
              <a:t> — minimal false positives</a:t>
            </a:r>
          </a:p>
          <a:p>
            <a:pPr marL="342900" indent="-342900">
              <a:lnSpc>
                <a:spcPts val="2800"/>
              </a:lnSpc>
              <a:buSzPct val="100000"/>
              <a:buChar char="•"/>
              <a:defRPr b="1" sz="17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pPr>
            <a:r>
              <a:t>High recall</a:t>
            </a:r>
            <a:r>
              <a:rPr b="0"/>
              <a:t> — catches most spam messages</a:t>
            </a:r>
          </a:p>
          <a:p>
            <a:pPr marL="342900" indent="-342900">
              <a:lnSpc>
                <a:spcPts val="2800"/>
              </a:lnSpc>
              <a:buSzPct val="100000"/>
              <a:buChar char="•"/>
              <a:defRPr sz="17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pPr>
            <a:r>
              <a:t>Strong generalization on </a:t>
            </a:r>
            <a:r>
              <a:rPr b="1"/>
              <a:t>multilingual</a:t>
            </a:r>
            <a:r>
              <a:t> test samples</a:t>
            </a:r>
          </a:p>
          <a:p>
            <a:pPr marL="342900" indent="-342900">
              <a:lnSpc>
                <a:spcPts val="2800"/>
              </a:lnSpc>
              <a:buSzPct val="100000"/>
              <a:buChar char="•"/>
              <a:defRPr sz="17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pPr>
            <a:r>
              <a:t>Confusion matrix confirms balanced class performance</a:t>
            </a:r>
          </a:p>
        </p:txBody>
      </p:sp>
      <p:pic>
        <p:nvPicPr>
          <p:cNvPr id="247" name="Screenshot 2026-04-09 at 10.52.22 PM.png" descr="Screenshot 2026-04-09 at 10.52.22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129165" y="7688580"/>
            <a:ext cx="2501901" cy="533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Text 0"/>
          <p:cNvSpPr txBox="1"/>
          <p:nvPr/>
        </p:nvSpPr>
        <p:spPr>
          <a:xfrm>
            <a:off x="793790" y="1757601"/>
            <a:ext cx="4050358" cy="687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Design Decision</a:t>
            </a:r>
          </a:p>
        </p:txBody>
      </p:sp>
      <p:sp>
        <p:nvSpPr>
          <p:cNvPr id="250" name="Shape 1"/>
          <p:cNvSpPr/>
          <p:nvPr/>
        </p:nvSpPr>
        <p:spPr>
          <a:xfrm>
            <a:off x="630435" y="2806541"/>
            <a:ext cx="13658180" cy="4451042"/>
          </a:xfrm>
          <a:prstGeom prst="roundRect">
            <a:avLst>
              <a:gd name="adj" fmla="val 4456"/>
            </a:avLst>
          </a:prstGeom>
          <a:solidFill>
            <a:srgbClr val="1B54D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51" name="Screenshot 2026-04-09 at 10.52.22 PM.png" descr="Screenshot 2026-04-09 at 10.52.22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557439" y="7688580"/>
            <a:ext cx="2501901" cy="533401"/>
          </a:xfrm>
          <a:prstGeom prst="rect">
            <a:avLst/>
          </a:prstGeom>
          <a:ln w="12700">
            <a:miter lim="400000"/>
          </a:ln>
        </p:spPr>
      </p:pic>
      <p:sp>
        <p:nvSpPr>
          <p:cNvPr id="252" name="Our design focused on efficiency, scalability, and real-time performance.…"/>
          <p:cNvSpPr txBox="1"/>
          <p:nvPr>
            <p:ph type="body" idx="4294967295"/>
          </p:nvPr>
        </p:nvSpPr>
        <p:spPr>
          <a:xfrm>
            <a:off x="842042" y="3149801"/>
            <a:ext cx="13461908" cy="4275976"/>
          </a:xfrm>
          <a:prstGeom prst="rect">
            <a:avLst/>
          </a:prstGeom>
        </p:spPr>
        <p:txBody>
          <a:bodyPr/>
          <a:lstStyle/>
          <a:p>
            <a:pPr marL="19050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546100" algn="l"/>
                <a:tab pos="901700" algn="l"/>
                <a:tab pos="1257300" algn="l"/>
                <a:tab pos="1612900" algn="l"/>
                <a:tab pos="1968500" algn="l"/>
                <a:tab pos="2324100" algn="l"/>
                <a:tab pos="2679700" algn="l"/>
                <a:tab pos="3035300" algn="l"/>
                <a:tab pos="3390900" algn="l"/>
                <a:tab pos="3746500" algn="l"/>
                <a:tab pos="4102100" algn="l"/>
                <a:tab pos="4457700" algn="l"/>
              </a:tabLst>
              <a:defRPr b="1" sz="2000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b="0">
                <a:latin typeface="+mn-lt"/>
                <a:ea typeface="+mn-ea"/>
                <a:cs typeface="+mn-cs"/>
                <a:sym typeface="Helvetica"/>
              </a:rPr>
              <a:t>Our design focused on </a:t>
            </a:r>
            <a:r>
              <a:t>efficiency, scalability, and real-time performance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.</a:t>
            </a:r>
            <a:endParaRPr b="0">
              <a:latin typeface="+mn-lt"/>
              <a:ea typeface="+mn-ea"/>
              <a:cs typeface="+mn-cs"/>
              <a:sym typeface="Helvetica"/>
            </a:endParaRPr>
          </a:p>
          <a:p>
            <a:pPr marL="19050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546100" algn="l"/>
                <a:tab pos="901700" algn="l"/>
                <a:tab pos="1257300" algn="l"/>
                <a:tab pos="1612900" algn="l"/>
                <a:tab pos="1968500" algn="l"/>
                <a:tab pos="2324100" algn="l"/>
                <a:tab pos="2679700" algn="l"/>
                <a:tab pos="3035300" algn="l"/>
                <a:tab pos="3390900" algn="l"/>
                <a:tab pos="3746500" algn="l"/>
                <a:tab pos="4102100" algn="l"/>
                <a:tab pos="4457700" algn="l"/>
              </a:tabLst>
              <a:defRPr sz="2000">
                <a:solidFill>
                  <a:srgbClr val="11111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We used </a:t>
            </a:r>
            <a:r>
              <a:rPr b="1" u="sng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Helvetica Neue"/>
                <a:ea typeface="Helvetica Neue"/>
                <a:cs typeface="Helvetica Neue"/>
                <a:sym typeface="Helvetica Neue"/>
                <a:hlinkClick r:id="rId3" invalidUrl="" action="" tgtFrame="" tooltip="" history="1" highlightClick="0" endSnd="0"/>
              </a:rPr>
              <a:t>Multinomial Naive Bayes</a:t>
            </a:r>
            <a:r>
              <a:t> with </a:t>
            </a:r>
            <a:r>
              <a:rPr b="1" u="sng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Helvetica Neue"/>
                <a:ea typeface="Helvetica Neue"/>
                <a:cs typeface="Helvetica Neue"/>
                <a:sym typeface="Helvetica Neue"/>
                <a:hlinkClick r:id="rId4" invalidUrl="" action="" tgtFrame="" tooltip="" history="1" highlightClick="0" endSnd="0"/>
              </a:rPr>
              <a:t>TF-IDF</a:t>
            </a:r>
            <a:r>
              <a:t> because they work well with text data and are computationally lightweight.</a:t>
            </a:r>
          </a:p>
          <a:p>
            <a:pPr marL="19050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546100" algn="l"/>
                <a:tab pos="901700" algn="l"/>
                <a:tab pos="1257300" algn="l"/>
                <a:tab pos="1612900" algn="l"/>
                <a:tab pos="1968500" algn="l"/>
                <a:tab pos="2324100" algn="l"/>
                <a:tab pos="2679700" algn="l"/>
                <a:tab pos="3035300" algn="l"/>
                <a:tab pos="3390900" algn="l"/>
                <a:tab pos="3746500" algn="l"/>
                <a:tab pos="4102100" algn="l"/>
                <a:tab pos="4457700" algn="l"/>
              </a:tabLst>
              <a:defRPr sz="2000">
                <a:solidFill>
                  <a:srgbClr val="11111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For multilingual support, we adopted a </a:t>
            </a: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translation-first approach</a:t>
            </a:r>
            <a:r>
              <a:t>, allowing a single model instead of multiple language-specific models.</a:t>
            </a:r>
          </a:p>
          <a:p>
            <a:pPr marL="19050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546100" algn="l"/>
                <a:tab pos="901700" algn="l"/>
                <a:tab pos="1257300" algn="l"/>
                <a:tab pos="1612900" algn="l"/>
                <a:tab pos="1968500" algn="l"/>
                <a:tab pos="2324100" algn="l"/>
                <a:tab pos="2679700" algn="l"/>
                <a:tab pos="3035300" algn="l"/>
                <a:tab pos="3390900" algn="l"/>
                <a:tab pos="3746500" algn="l"/>
                <a:tab pos="4102100" algn="l"/>
                <a:tab pos="4457700" algn="l"/>
              </a:tabLst>
              <a:defRPr sz="2000">
                <a:solidFill>
                  <a:srgbClr val="11111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We designed a </a:t>
            </a: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layered architecture</a:t>
            </a:r>
            <a:r>
              <a:t> with a </a:t>
            </a:r>
            <a:r>
              <a:rPr b="1" u="sng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Helvetica Neue"/>
                <a:ea typeface="Helvetica Neue"/>
                <a:cs typeface="Helvetica Neue"/>
                <a:sym typeface="Helvetica Neue"/>
                <a:hlinkClick r:id="rId5" invalidUrl="" action="" tgtFrame="" tooltip="" history="1" highlightClick="0" endSnd="0"/>
              </a:rPr>
              <a:t>Flask</a:t>
            </a:r>
            <a:r>
              <a:t> backend to enable modularity and real-time API-based predictions.</a:t>
            </a:r>
          </a:p>
          <a:p>
            <a:pPr marL="19050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546100" algn="l"/>
                <a:tab pos="901700" algn="l"/>
                <a:tab pos="1257300" algn="l"/>
                <a:tab pos="1612900" algn="l"/>
                <a:tab pos="1968500" algn="l"/>
                <a:tab pos="2324100" algn="l"/>
                <a:tab pos="2679700" algn="l"/>
                <a:tab pos="3035300" algn="l"/>
                <a:tab pos="3390900" algn="l"/>
                <a:tab pos="3746500" algn="l"/>
                <a:tab pos="4102100" algn="l"/>
                <a:tab pos="4457700" algn="l"/>
              </a:tabLst>
              <a:defRPr b="1" sz="2000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b="0">
                <a:latin typeface="+mn-lt"/>
                <a:ea typeface="+mn-ea"/>
                <a:cs typeface="+mn-cs"/>
                <a:sym typeface="Helvetica"/>
              </a:rPr>
              <a:t>Overall, we prioritized a </a:t>
            </a:r>
            <a:r>
              <a:t>simple, fast, and deployable system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 over complex models.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255" name="Shape 0"/>
          <p:cNvSpPr/>
          <p:nvPr/>
        </p:nvSpPr>
        <p:spPr>
          <a:xfrm>
            <a:off x="5993367" y="1466373"/>
            <a:ext cx="1920717" cy="238721"/>
          </a:xfrm>
          <a:prstGeom prst="roundRect">
            <a:avLst>
              <a:gd name="adj" fmla="val 20390"/>
            </a:avLst>
          </a:prstGeom>
          <a:solidFill>
            <a:srgbClr val="D2DD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6" name="Text 1"/>
          <p:cNvSpPr txBox="1"/>
          <p:nvPr/>
        </p:nvSpPr>
        <p:spPr>
          <a:xfrm>
            <a:off x="6080283" y="1509831"/>
            <a:ext cx="1765376" cy="138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100"/>
              </a:lnSpc>
              <a:defRPr sz="9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lvl1pPr>
          </a:lstStyle>
          <a:p>
            <a:pPr/>
            <a:r>
              <a:t>CONCLUSION &amp; FUTURE WORK</a:t>
            </a:r>
          </a:p>
        </p:txBody>
      </p:sp>
      <p:sp>
        <p:nvSpPr>
          <p:cNvPr id="257" name="Text 2"/>
          <p:cNvSpPr txBox="1"/>
          <p:nvPr/>
        </p:nvSpPr>
        <p:spPr>
          <a:xfrm>
            <a:off x="5993367" y="1742002"/>
            <a:ext cx="4448152" cy="437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500"/>
              </a:lnSpc>
              <a:defRPr sz="280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What's Next for SpamGuard</a:t>
            </a:r>
          </a:p>
        </p:txBody>
      </p:sp>
      <p:sp>
        <p:nvSpPr>
          <p:cNvPr id="258" name="Text 3"/>
          <p:cNvSpPr txBox="1"/>
          <p:nvPr/>
        </p:nvSpPr>
        <p:spPr>
          <a:xfrm>
            <a:off x="5993367" y="2333387"/>
            <a:ext cx="168090" cy="174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404155"/>
                </a:solidFill>
                <a:latin typeface="Alexandria Light"/>
                <a:ea typeface="Alexandria Light"/>
                <a:cs typeface="Alexandria Light"/>
                <a:sym typeface="Alexandria Light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59" name="Shape 4"/>
          <p:cNvSpPr/>
          <p:nvPr/>
        </p:nvSpPr>
        <p:spPr>
          <a:xfrm>
            <a:off x="5993367" y="2564248"/>
            <a:ext cx="8130066" cy="15241"/>
          </a:xfrm>
          <a:prstGeom prst="rect">
            <a:avLst/>
          </a:prstGeom>
          <a:solidFill>
            <a:srgbClr val="1B54D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0" name="Text 5"/>
          <p:cNvSpPr txBox="1"/>
          <p:nvPr/>
        </p:nvSpPr>
        <p:spPr>
          <a:xfrm>
            <a:off x="5993367" y="2667118"/>
            <a:ext cx="1515146" cy="21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700"/>
              </a:lnSpc>
              <a:defRPr sz="14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Proven Foundation</a:t>
            </a:r>
          </a:p>
        </p:txBody>
      </p:sp>
      <p:sp>
        <p:nvSpPr>
          <p:cNvPr id="261" name="Text 6"/>
          <p:cNvSpPr txBox="1"/>
          <p:nvPr/>
        </p:nvSpPr>
        <p:spPr>
          <a:xfrm>
            <a:off x="5993367" y="2948939"/>
            <a:ext cx="7053704" cy="1743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1400"/>
              </a:lnSpc>
              <a:defRPr sz="11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pPr>
            <a:r>
              <a:t>SpamGuard achieves </a:t>
            </a:r>
            <a:r>
              <a:rPr b="1"/>
              <a:t>97.13% accuracy</a:t>
            </a:r>
            <a:r>
              <a:t> with a simple, interpretable NLP pipeline — validating the core approach.</a:t>
            </a:r>
          </a:p>
        </p:txBody>
      </p:sp>
      <p:sp>
        <p:nvSpPr>
          <p:cNvPr id="262" name="Text 7"/>
          <p:cNvSpPr txBox="1"/>
          <p:nvPr/>
        </p:nvSpPr>
        <p:spPr>
          <a:xfrm>
            <a:off x="5993367" y="3339941"/>
            <a:ext cx="168090" cy="174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404155"/>
                </a:solidFill>
                <a:latin typeface="Alexandria Light"/>
                <a:ea typeface="Alexandria Light"/>
                <a:cs typeface="Alexandria Light"/>
                <a:sym typeface="Alexandria Light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63" name="Shape 8"/>
          <p:cNvSpPr/>
          <p:nvPr/>
        </p:nvSpPr>
        <p:spPr>
          <a:xfrm>
            <a:off x="5993367" y="3570802"/>
            <a:ext cx="8130066" cy="15241"/>
          </a:xfrm>
          <a:prstGeom prst="rect">
            <a:avLst/>
          </a:prstGeom>
          <a:solidFill>
            <a:srgbClr val="1B54D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4" name="Text 9"/>
          <p:cNvSpPr txBox="1"/>
          <p:nvPr/>
        </p:nvSpPr>
        <p:spPr>
          <a:xfrm>
            <a:off x="5993367" y="3673673"/>
            <a:ext cx="1989251" cy="213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700"/>
              </a:lnSpc>
              <a:defRPr sz="14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Upgrade to Transformers</a:t>
            </a:r>
          </a:p>
        </p:txBody>
      </p:sp>
      <p:sp>
        <p:nvSpPr>
          <p:cNvPr id="265" name="Text 10"/>
          <p:cNvSpPr txBox="1"/>
          <p:nvPr/>
        </p:nvSpPr>
        <p:spPr>
          <a:xfrm>
            <a:off x="5993367" y="3955493"/>
            <a:ext cx="6154999" cy="1743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1400"/>
              </a:lnSpc>
              <a:defRPr sz="11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pPr>
            <a:r>
              <a:t>Integrate </a:t>
            </a:r>
            <a:r>
              <a:rPr b="1"/>
              <a:t>BERT / mBERT</a:t>
            </a:r>
            <a:r>
              <a:t> for deeper semantic understanding and better multilingual generalization.</a:t>
            </a:r>
          </a:p>
        </p:txBody>
      </p:sp>
      <p:sp>
        <p:nvSpPr>
          <p:cNvPr id="266" name="Text 11"/>
          <p:cNvSpPr txBox="1"/>
          <p:nvPr/>
        </p:nvSpPr>
        <p:spPr>
          <a:xfrm>
            <a:off x="5993367" y="4346495"/>
            <a:ext cx="168090" cy="1743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404155"/>
                </a:solidFill>
                <a:latin typeface="Alexandria Light"/>
                <a:ea typeface="Alexandria Light"/>
                <a:cs typeface="Alexandria Light"/>
                <a:sym typeface="Alexandria Light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67" name="Shape 12"/>
          <p:cNvSpPr/>
          <p:nvPr/>
        </p:nvSpPr>
        <p:spPr>
          <a:xfrm>
            <a:off x="5993367" y="4577357"/>
            <a:ext cx="8130066" cy="15241"/>
          </a:xfrm>
          <a:prstGeom prst="rect">
            <a:avLst/>
          </a:prstGeom>
          <a:solidFill>
            <a:srgbClr val="1B54D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8" name="Text 13"/>
          <p:cNvSpPr txBox="1"/>
          <p:nvPr/>
        </p:nvSpPr>
        <p:spPr>
          <a:xfrm>
            <a:off x="5993367" y="4680227"/>
            <a:ext cx="2019463" cy="21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700"/>
              </a:lnSpc>
              <a:defRPr sz="14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Auto Language Detection</a:t>
            </a:r>
          </a:p>
        </p:txBody>
      </p:sp>
      <p:sp>
        <p:nvSpPr>
          <p:cNvPr id="269" name="Text 14"/>
          <p:cNvSpPr txBox="1"/>
          <p:nvPr/>
        </p:nvSpPr>
        <p:spPr>
          <a:xfrm>
            <a:off x="5993367" y="4962049"/>
            <a:ext cx="5572461" cy="174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1400"/>
              </a:lnSpc>
              <a:defRPr sz="11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pPr>
            <a:r>
              <a:t>Add </a:t>
            </a:r>
            <a:r>
              <a:rPr b="1"/>
              <a:t>langdetect</a:t>
            </a:r>
            <a:r>
              <a:t> to automatically route messages — removing manual language selection.</a:t>
            </a:r>
          </a:p>
        </p:txBody>
      </p:sp>
      <p:sp>
        <p:nvSpPr>
          <p:cNvPr id="270" name="Text 15"/>
          <p:cNvSpPr txBox="1"/>
          <p:nvPr/>
        </p:nvSpPr>
        <p:spPr>
          <a:xfrm>
            <a:off x="5993367" y="5353050"/>
            <a:ext cx="168090" cy="174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404155"/>
                </a:solidFill>
                <a:latin typeface="Alexandria Light"/>
                <a:ea typeface="Alexandria Light"/>
                <a:cs typeface="Alexandria Light"/>
                <a:sym typeface="Alexandria Light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271" name="Shape 16"/>
          <p:cNvSpPr/>
          <p:nvPr/>
        </p:nvSpPr>
        <p:spPr>
          <a:xfrm>
            <a:off x="5993367" y="5583911"/>
            <a:ext cx="8130066" cy="15241"/>
          </a:xfrm>
          <a:prstGeom prst="rect">
            <a:avLst/>
          </a:prstGeom>
          <a:solidFill>
            <a:srgbClr val="1B54D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2" name="Text 17"/>
          <p:cNvSpPr txBox="1"/>
          <p:nvPr/>
        </p:nvSpPr>
        <p:spPr>
          <a:xfrm>
            <a:off x="5993367" y="5686781"/>
            <a:ext cx="1475384" cy="21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700"/>
              </a:lnSpc>
              <a:defRPr sz="14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Cloud Deployment</a:t>
            </a:r>
          </a:p>
        </p:txBody>
      </p:sp>
      <p:sp>
        <p:nvSpPr>
          <p:cNvPr id="273" name="Text 18"/>
          <p:cNvSpPr txBox="1"/>
          <p:nvPr/>
        </p:nvSpPr>
        <p:spPr>
          <a:xfrm>
            <a:off x="5993367" y="5968603"/>
            <a:ext cx="5026417" cy="174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1400"/>
              </a:lnSpc>
              <a:defRPr sz="11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pPr>
            <a:r>
              <a:t>Deploy on </a:t>
            </a:r>
            <a:r>
              <a:rPr b="1"/>
              <a:t>AWS / GCP</a:t>
            </a:r>
            <a:r>
              <a:t> with a REST API for scalable, production-grade inference.</a:t>
            </a:r>
          </a:p>
        </p:txBody>
      </p:sp>
      <p:sp>
        <p:nvSpPr>
          <p:cNvPr id="274" name="Shape 19"/>
          <p:cNvSpPr/>
          <p:nvPr/>
        </p:nvSpPr>
        <p:spPr>
          <a:xfrm>
            <a:off x="5993367" y="6443565"/>
            <a:ext cx="8130066" cy="25719"/>
          </a:xfrm>
          <a:prstGeom prst="rect">
            <a:avLst/>
          </a:prstGeom>
          <a:solidFill>
            <a:srgbClr val="404155">
              <a:alpha val="5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5" name="Text 20"/>
          <p:cNvSpPr txBox="1"/>
          <p:nvPr/>
        </p:nvSpPr>
        <p:spPr>
          <a:xfrm>
            <a:off x="5993367" y="6573322"/>
            <a:ext cx="1997355" cy="174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400"/>
              </a:lnSpc>
              <a:defRPr b="1" sz="11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lvl1pPr>
          </a:lstStyle>
          <a:p>
            <a:pPr/>
            <a:r>
              <a:t>Thank You — Any Questions?</a:t>
            </a:r>
          </a:p>
        </p:txBody>
      </p:sp>
      <p:pic>
        <p:nvPicPr>
          <p:cNvPr id="276" name="Screenshot 2026-04-09 at 10.52.22 PM.png" descr="Screenshot 2026-04-09 at 10.52.22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170611" y="7688580"/>
            <a:ext cx="2501901" cy="533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